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2138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21384000"/>
          </a:xfrm>
          <a:prstGeom prst="rect">
            <a:avLst/>
          </a:prstGeom>
          <a:solidFill>
            <a:srgbClr val="08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3960000"/>
          </a:xfrm>
          <a:prstGeom prst="rect">
            <a:avLst/>
          </a:prstGeom>
          <a:solidFill>
            <a:srgbClr val="0D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24000"/>
            <a:ext cx="1512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360000"/>
            <a:ext cx="1368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A623"/>
                </a:solidFill>
                <a:latin typeface="Calibri"/>
              </a:rPr>
              <a:t>WORLD DNA DAY · APRIL 25, 2026 · BRAC UNIVERSITY SOCIETY FOR BIOTECHNOLOGY (BUSB)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720000"/>
            <a:ext cx="9360000" cy="27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5A623"/>
                </a:solidFill>
                <a:latin typeface="Calibri"/>
              </a:rPr>
              <a:t>Rewriting Fate:</a:t>
            </a:r>
          </a:p>
          <a:p>
            <a:pPr algn="l"/>
            <a:r>
              <a:rPr sz="3400" b="1" i="0">
                <a:solidFill>
                  <a:srgbClr val="EFF4FF"/>
                </a:solidFill>
                <a:latin typeface="Calibri"/>
              </a:rPr>
              <a:t>How CRISPR-Cas9 Transforms Beta-Thalassemia</a:t>
            </a:r>
          </a:p>
          <a:p>
            <a:pPr algn="l"/>
            <a:r>
              <a:rPr sz="3400" b="1" i="0">
                <a:solidFill>
                  <a:srgbClr val="EFF4FF"/>
                </a:solidFill>
                <a:latin typeface="Calibri"/>
              </a:rPr>
              <a:t>from a Lifelong Burden into a</a:t>
            </a:r>
          </a:p>
          <a:p>
            <a:pPr algn="l"/>
            <a:r>
              <a:rPr sz="3400" b="1" i="0">
                <a:solidFill>
                  <a:srgbClr val="00D4A8"/>
                </a:solidFill>
                <a:latin typeface="Calibri"/>
              </a:rPr>
              <a:t>One-Time 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" y="2844000"/>
            <a:ext cx="10800000" cy="93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892AA"/>
                </a:solidFill>
                <a:latin typeface="Calibri"/>
              </a:rPr>
              <a:t>Beta-thalassemia — a single HBB gene mutation — sentences millions to lifelong transfusions. In December 2023, the FDA approved Casgevy: the world's first CRISPR-Cas9 gene therapy. By permanently reactivating fetal hemoglobin, it freed 93% of trial patients from transfusion dependency. With Bangladesh carrying a ~7% carrier rate, this breakthrough is not abstract — it is urgent.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0000" y="1368000"/>
            <a:ext cx="39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 i="0">
                <a:solidFill>
                  <a:srgbClr val="F5A623"/>
                </a:solidFill>
                <a:latin typeface="Calibri"/>
              </a:rPr>
              <a:t>HBB GENE · CHROMOSOME 11p15.5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00" y="720000"/>
            <a:ext cx="3600000" cy="7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00000" y="1008000"/>
            <a:ext cx="3600000" cy="7200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00000" y="1296000"/>
            <a:ext cx="3600000" cy="72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00000" y="1584000"/>
            <a:ext cx="3600000" cy="7200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960000"/>
            <a:ext cx="7200000" cy="5760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0" y="3960000"/>
            <a:ext cx="36000" cy="5760000"/>
          </a:xfrm>
          <a:prstGeom prst="rect">
            <a:avLst/>
          </a:prstGeom>
          <a:solidFill>
            <a:srgbClr val="604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4392000"/>
            <a:ext cx="630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A623"/>
                </a:solidFill>
                <a:latin typeface="Calibri"/>
              </a:rPr>
              <a:t>BANGLADESH BURDEN &amp; TRIAL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4752000"/>
            <a:ext cx="288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 i="0">
                <a:solidFill>
                  <a:srgbClr val="F5A623"/>
                </a:solidFill>
                <a:latin typeface="Calibri"/>
              </a:rPr>
              <a:t>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" y="5472000"/>
            <a:ext cx="63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92AA"/>
                </a:solidFill>
                <a:latin typeface="Calibri"/>
              </a:rPr>
              <a:t>Carrier rate in Bangladesh — 1 in 14 people carry a mutated HBB allele.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000" y="5976000"/>
            <a:ext cx="6300000" cy="18000"/>
          </a:xfrm>
          <a:prstGeom prst="rect">
            <a:avLst/>
          </a:prstGeom>
          <a:solidFill>
            <a:srgbClr val="40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6120000"/>
            <a:ext cx="4320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5A623"/>
                </a:solidFill>
                <a:latin typeface="Calibri"/>
              </a:rPr>
              <a:t>14,000+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" y="6696000"/>
            <a:ext cx="63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92AA"/>
                </a:solidFill>
                <a:latin typeface="Calibri"/>
              </a:rPr>
              <a:t>New thalassemia major births annually in South Asia. Most in Bangladesh are undiagnosed.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000" y="7200000"/>
            <a:ext cx="6300000" cy="18000"/>
          </a:xfrm>
          <a:prstGeom prst="rect">
            <a:avLst/>
          </a:prstGeom>
          <a:solidFill>
            <a:srgbClr val="40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000" y="7308000"/>
            <a:ext cx="4320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5A623"/>
                </a:solidFill>
                <a:latin typeface="Calibri"/>
              </a:rPr>
              <a:t>2–4x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" y="7884000"/>
            <a:ext cx="63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8892AA"/>
                </a:solidFill>
                <a:latin typeface="Calibri"/>
              </a:rPr>
              <a:t>Blood transfusions required under traditional management — every month, for life.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000" y="8388000"/>
            <a:ext cx="6300000" cy="18000"/>
          </a:xfrm>
          <a:prstGeom prst="rect">
            <a:avLst/>
          </a:prstGeom>
          <a:solidFill>
            <a:srgbClr val="0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8532000"/>
            <a:ext cx="432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00D4A8"/>
                </a:solidFill>
                <a:latin typeface="Calibri"/>
              </a:rPr>
              <a:t>93%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000" y="9252000"/>
            <a:ext cx="63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4EFFD9"/>
                </a:solidFill>
                <a:latin typeface="Calibri"/>
              </a:rPr>
              <a:t>Patients transfusion-free after CRISPR therapy. CLIMB-Thal-111, NEJM 2023.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000" y="4392000"/>
            <a:ext cx="730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E84545"/>
                </a:solidFill>
                <a:latin typeface="Calibri"/>
              </a:rPr>
              <a:t>THE DISEASE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752000"/>
            <a:ext cx="7308000" cy="57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EFF4FF"/>
                </a:solidFill>
                <a:latin typeface="Calibri"/>
              </a:rPr>
              <a:t>Beta-Thalassemia Major: One Gene, Catastrophic Cascade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000" y="5400000"/>
            <a:ext cx="7308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8892AA"/>
                </a:solidFill>
                <a:latin typeface="Calibri"/>
              </a:rPr>
              <a:t>Mutations in HBB (chromosome 11p15.5) cripple β-globin synthesis. Without functional hemoglobin, red blood cells collapse before leaving the bone marrow — ineffective erythropoiesis — causing severe hemolytic anemia and multi-organ failure.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000" y="6192000"/>
            <a:ext cx="3420000" cy="1800000"/>
          </a:xfrm>
          <a:prstGeom prst="rect">
            <a:avLst/>
          </a:prstGeom>
          <a:solidFill>
            <a:srgbClr val="180808"/>
          </a:solidFill>
          <a:ln w="1270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0000" y="6264000"/>
            <a:ext cx="3204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84545"/>
                </a:solidFill>
                <a:latin typeface="Calibri"/>
              </a:rPr>
              <a:t>THALASSEMIC RBC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0000" y="6588000"/>
            <a:ext cx="3204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FF8888"/>
                </a:solidFill>
                <a:latin typeface="Calibri"/>
              </a:rPr>
              <a:t>◆ Irregular, fragile — destroyed in bone marrow
◆ Severe hemolytic anemia
◆ Ineffective erythropoiesis
◆ Bone deformity, splenomegaly, cardiac failure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88000" y="6192000"/>
            <a:ext cx="3420000" cy="1800000"/>
          </a:xfrm>
          <a:prstGeom prst="rect">
            <a:avLst/>
          </a:prstGeom>
          <a:solidFill>
            <a:srgbClr val="041814"/>
          </a:solidFill>
          <a:ln w="12700">
            <a:solidFill>
              <a:srgbClr val="00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96000" y="6264000"/>
            <a:ext cx="3204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00D4A8"/>
                </a:solidFill>
                <a:latin typeface="Calibri"/>
              </a:rPr>
              <a:t>POST-CRISPR RBC · HbF 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96000" y="6588000"/>
            <a:ext cx="3204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4EFFD9"/>
                </a:solidFill>
                <a:latin typeface="Calibri"/>
              </a:rPr>
              <a:t>◆ Smooth biconcave discs with fetal hemoglobin
◆ Full oxygen-carrying capacity restored
◆ No transfusions required
◆ Normal organ function maintained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000" y="8208000"/>
            <a:ext cx="7308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E84545"/>
                </a:solidFill>
                <a:latin typeface="Calibri"/>
              </a:rPr>
              <a:t>Untreated cascade: Severe Anemia  →  Bone Deformity  →  Splenomegaly  →  Cardiac Failure  →  Death in teens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9720000"/>
            <a:ext cx="15120000" cy="216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9720000"/>
            <a:ext cx="15120000" cy="504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000" y="10080000"/>
            <a:ext cx="14112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D4A8"/>
                </a:solidFill>
                <a:latin typeface="Calibri"/>
              </a:rPr>
              <a:t>CRISPR-Cas9 MECHANISM  ·  Casgevy (exagamglogene autotemcel)  ·  FDA + EMA APPROVED DECEMBER 8, 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000" y="10440000"/>
            <a:ext cx="14112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EFF4FF"/>
                </a:solidFill>
                <a:latin typeface="Calibri"/>
              </a:rPr>
              <a:t>Six Steps from Broken Gene to Permanent Cure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4000" y="11016000"/>
            <a:ext cx="2088000" cy="2592000"/>
          </a:xfrm>
          <a:prstGeom prst="rect">
            <a:avLst/>
          </a:prstGeom>
          <a:solidFill>
            <a:srgbClr val="141004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000" y="11124000"/>
            <a:ext cx="1872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8892AA"/>
                </a:solidFill>
                <a:latin typeface="Calibri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000" y="11376000"/>
            <a:ext cx="1872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HSC Harvest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000" y="11952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EFF4FF"/>
                </a:solidFill>
                <a:latin typeface="Calibri"/>
              </a:rPr>
              <a:t>Patient's own hematopoietic stem cells collected via apheresis. Plerixafor mobilization. No donor required.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28000" y="12132000"/>
            <a:ext cx="1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8892AA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000" y="11016000"/>
            <a:ext cx="2088000" cy="2592000"/>
          </a:xfrm>
          <a:prstGeom prst="rect">
            <a:avLst/>
          </a:prstGeom>
          <a:solidFill>
            <a:srgbClr val="041412"/>
          </a:solidFill>
          <a:ln w="15240">
            <a:solidFill>
              <a:srgbClr val="00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16000" y="11124000"/>
            <a:ext cx="1872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8892AA"/>
                </a:solidFill>
                <a:latin typeface="Calibri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16000" y="11376000"/>
            <a:ext cx="1872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A8"/>
                </a:solidFill>
                <a:latin typeface="Calibri"/>
              </a:rPr>
              <a:t>Cas9 + gRNA Delivery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16000" y="11952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EFF4FF"/>
                </a:solidFill>
                <a:latin typeface="Calibri"/>
              </a:rPr>
              <a:t>Guide RNA directs Cas9 protein to the BCL11A erythroid enhancer (+58 region) — delivered ex vivo by electroporation.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2000" y="12132000"/>
            <a:ext cx="1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8892AA"/>
                </a:solidFill>
                <a:latin typeface="Calibr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12000" y="11016000"/>
            <a:ext cx="2088000" cy="2592000"/>
          </a:xfrm>
          <a:prstGeom prst="rect">
            <a:avLst/>
          </a:prstGeom>
          <a:solidFill>
            <a:srgbClr val="180606"/>
          </a:solidFill>
          <a:ln w="1524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0000" y="11124000"/>
            <a:ext cx="1872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8892AA"/>
                </a:solidFill>
                <a:latin typeface="Calibri"/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20000" y="11376000"/>
            <a:ext cx="1872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E84545"/>
                </a:solidFill>
                <a:latin typeface="Calibri"/>
              </a:rPr>
              <a:t>BCL11A Enhancer Cut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0000" y="11952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EFF4FF"/>
                </a:solidFill>
                <a:latin typeface="Calibri"/>
              </a:rPr>
              <a:t>Cas9 introduces a double-strand break at the +58 enhancer. NHEJ repair creates indels, destroying the GATA1 binding motif.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6000" y="12132000"/>
            <a:ext cx="1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8892AA"/>
                </a:solidFill>
                <a:latin typeface="Calibr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16000" y="11016000"/>
            <a:ext cx="2088000" cy="2592000"/>
          </a:xfrm>
          <a:prstGeom prst="rect">
            <a:avLst/>
          </a:prstGeom>
          <a:solidFill>
            <a:srgbClr val="041612"/>
          </a:solidFill>
          <a:ln w="15240">
            <a:solidFill>
              <a:srgbClr val="00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24000" y="11124000"/>
            <a:ext cx="1872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8892AA"/>
                </a:solidFill>
                <a:latin typeface="Calibri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4000" y="11376000"/>
            <a:ext cx="1872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A8"/>
                </a:solidFill>
                <a:latin typeface="Calibri"/>
              </a:rPr>
              <a:t>HbF Genes Reactivate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4000" y="11952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EFF4FF"/>
                </a:solidFill>
                <a:latin typeface="Calibri"/>
              </a:rPr>
              <a:t>Without BCL11A in erythroid cells, HBG1/HBG2 (γ-globin) genes remain ON. Fetal hemoglobin (HbF) is produced permanently.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40000" y="12132000"/>
            <a:ext cx="1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8892AA"/>
                </a:solidFill>
                <a:latin typeface="Calibri"/>
              </a:rPr>
              <a:t>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20000" y="11016000"/>
            <a:ext cx="2088000" cy="2592000"/>
          </a:xfrm>
          <a:prstGeom prst="rect">
            <a:avLst/>
          </a:prstGeom>
          <a:solidFill>
            <a:srgbClr val="141004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28000" y="11124000"/>
            <a:ext cx="1872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8892AA"/>
                </a:solidFill>
                <a:latin typeface="Calibri"/>
              </a:rPr>
              <a:t>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8000" y="11376000"/>
            <a:ext cx="1872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Conditioning + Reinfusion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8000" y="11952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EFF4FF"/>
                </a:solidFill>
                <a:latin typeface="Calibri"/>
              </a:rPr>
              <a:t>Myeloablative busulfan conditioning clears native marrow. Edited HSCs infused — they home to the bone marrow niche and engraft.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44000" y="12132000"/>
            <a:ext cx="1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00D4A8"/>
                </a:solidFill>
                <a:latin typeface="Calibri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024000" y="11016000"/>
            <a:ext cx="2088000" cy="2592000"/>
          </a:xfrm>
          <a:prstGeom prst="rect">
            <a:avLst/>
          </a:prstGeom>
          <a:solidFill>
            <a:srgbClr val="041814"/>
          </a:solidFill>
          <a:ln w="15240">
            <a:solidFill>
              <a:srgbClr val="00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132000" y="11124000"/>
            <a:ext cx="1872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8892AA"/>
                </a:solidFill>
                <a:latin typeface="Calibri"/>
              </a:rPr>
              <a:t>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32000" y="11376000"/>
            <a:ext cx="1872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D4A8"/>
                </a:solidFill>
                <a:latin typeface="Calibri"/>
              </a:rPr>
              <a:t>Transfusion-Free Life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32000" y="11952000"/>
            <a:ext cx="1872000" cy="158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EFF4FF"/>
                </a:solidFill>
                <a:latin typeface="Calibri"/>
              </a:rPr>
              <a:t>Every red blood cell the patient produces carries the edited genome. HbF compensates for absent HbA. One treatment. Permanent.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4000" y="13896000"/>
            <a:ext cx="14112000" cy="648000"/>
          </a:xfrm>
          <a:prstGeom prst="rect">
            <a:avLst/>
          </a:prstGeom>
          <a:solidFill>
            <a:srgbClr val="041412"/>
          </a:solidFill>
          <a:ln w="12700">
            <a:solidFill>
              <a:srgbClr val="008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8000" y="13968000"/>
            <a:ext cx="13824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EFF4FF"/>
                </a:solidFill>
                <a:latin typeface="Calibri"/>
              </a:rPr>
              <a:t>Key insight: Casgevy does NOT repair the mutated HBB gene. It disables BCL11A — the molecular switch that silences fetal hemoglobin after birth — permanently re-engaging a compensatory system already encoded in the patient's own genome. The edit is heritable in all descendent red blood cells through the engrafted stem cell population.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14760000"/>
            <a:ext cx="15120000" cy="216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4000" y="15120000"/>
            <a:ext cx="68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D4A8"/>
                </a:solidFill>
                <a:latin typeface="Calibri"/>
              </a:rPr>
              <a:t>CLINICAL EVIDENCE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4000" y="15480000"/>
            <a:ext cx="6840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FF4FF"/>
                </a:solidFill>
                <a:latin typeface="Calibri"/>
              </a:rPr>
              <a:t>CLIMB-Thal-111 · Phase 3 Trial · NEJM December 2023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4000" y="16200000"/>
            <a:ext cx="1260000" cy="1980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4000" y="17942400"/>
            <a:ext cx="1260000" cy="237600"/>
          </a:xfrm>
          <a:prstGeom prst="rect">
            <a:avLst/>
          </a:prstGeom>
          <a:solidFill>
            <a:srgbClr val="300808"/>
          </a:solidFill>
          <a:ln w="1270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4000" y="175824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E84545"/>
                </a:solidFill>
                <a:latin typeface="Calibri"/>
              </a:rPr>
              <a:t>~8%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4000" y="18252000"/>
            <a:ext cx="12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 i="0">
                <a:solidFill>
                  <a:srgbClr val="8892AA"/>
                </a:solidFill>
                <a:latin typeface="Calibri"/>
              </a:rPr>
              <a:t>HbF BEFORE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04000" y="16200000"/>
            <a:ext cx="1260000" cy="1980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304000" y="16893000"/>
            <a:ext cx="1260000" cy="1287000"/>
          </a:xfrm>
          <a:prstGeom prst="rect">
            <a:avLst/>
          </a:prstGeom>
          <a:solidFill>
            <a:srgbClr val="042018"/>
          </a:solidFill>
          <a:ln w="12700">
            <a:solidFill>
              <a:srgbClr val="00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04000" y="165330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0D4A8"/>
                </a:solidFill>
                <a:latin typeface="Calibri"/>
              </a:rPr>
              <a:t>~43%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04000" y="18252000"/>
            <a:ext cx="12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 i="0">
                <a:solidFill>
                  <a:srgbClr val="8892AA"/>
                </a:solidFill>
                <a:latin typeface="Calibri"/>
              </a:rPr>
              <a:t>HbF AFTER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04000" y="16200000"/>
            <a:ext cx="1260000" cy="1980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04000" y="16338600"/>
            <a:ext cx="1260000" cy="1841400"/>
          </a:xfrm>
          <a:prstGeom prst="rect">
            <a:avLst/>
          </a:prstGeom>
          <a:solidFill>
            <a:srgbClr val="04241A"/>
          </a:solidFill>
          <a:ln w="12700">
            <a:solidFill>
              <a:srgbClr val="00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04000" y="15978600"/>
            <a:ext cx="12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0D4A8"/>
                </a:solidFill>
                <a:latin typeface="Calibri"/>
              </a:rPr>
              <a:t>93%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04000" y="18252000"/>
            <a:ext cx="12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 i="0">
                <a:solidFill>
                  <a:srgbClr val="8892AA"/>
                </a:solidFill>
                <a:latin typeface="Calibri"/>
              </a:rPr>
              <a:t>TRANSFUSION-FREE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4000" y="18360000"/>
            <a:ext cx="68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892AA"/>
                </a:solidFill>
                <a:latin typeface="Calibri"/>
              </a:rPr>
              <a:t>n = 52 patients · Median follow-up 24.1 months · No off-target CRISPR editing detected · Effects durable at all timepoints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60000" y="14760000"/>
            <a:ext cx="21600" cy="39600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20000" y="15120000"/>
            <a:ext cx="684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A623"/>
                </a:solidFill>
                <a:latin typeface="Calibri"/>
              </a:rPr>
              <a:t>BEFORE vs. AFTER CRISPR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20000" y="15480000"/>
            <a:ext cx="68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FF4FF"/>
                </a:solidFill>
                <a:latin typeface="Calibri"/>
              </a:rPr>
              <a:t>Traditional Treatment vs. One-Time CRISPR Cure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20000" y="16056000"/>
            <a:ext cx="3240000" cy="2448000"/>
          </a:xfrm>
          <a:prstGeom prst="rect">
            <a:avLst/>
          </a:prstGeom>
          <a:solidFill>
            <a:srgbClr val="180606"/>
          </a:solidFill>
          <a:ln w="12700">
            <a:solidFill>
              <a:srgbClr val="E8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28000" y="16128000"/>
            <a:ext cx="3060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84545"/>
                </a:solidFill>
                <a:latin typeface="Calibri"/>
              </a:rPr>
              <a:t>TRADITIONAL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28000" y="16452000"/>
            <a:ext cx="3060000" cy="19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FF8888"/>
                </a:solidFill>
                <a:latin typeface="Calibri"/>
              </a:rPr>
              <a:t>✕  Transfusion every 2–4 weeks, lifelong
✕  Iron chelation — daily, toxic
✕  BMT: only 30% find a matched donor
✕  Graft-vs-host disease risk
✕  Annual cost unaffordable in Bangladesh
✕  Life expectancy severely reduced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340000" y="16056000"/>
            <a:ext cx="3240000" cy="2448000"/>
          </a:xfrm>
          <a:prstGeom prst="rect">
            <a:avLst/>
          </a:prstGeom>
          <a:solidFill>
            <a:srgbClr val="041812"/>
          </a:solidFill>
          <a:ln w="12700">
            <a:solidFill>
              <a:srgbClr val="00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448000" y="16128000"/>
            <a:ext cx="3060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00D4A8"/>
                </a:solidFill>
                <a:latin typeface="Calibri"/>
              </a:rPr>
              <a:t>CRISPR THERAPY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448000" y="16452000"/>
            <a:ext cx="3060000" cy="19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4EFFD9"/>
                </a:solidFill>
                <a:latin typeface="Calibri"/>
              </a:rPr>
              <a:t>✓  One-time treatment — no maintenance
✓  Autologous cells — no donor needed
✓  No graft-vs-host disease risk
✓  FDA + EMA approved Dec 8, 2023
✓  93% transfusion-free, effects durable
✓  Normal life expectancy projected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18720000"/>
            <a:ext cx="15120000" cy="216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0" y="18720000"/>
            <a:ext cx="7560000" cy="1980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560000" y="18720000"/>
            <a:ext cx="7560000" cy="1980000"/>
          </a:xfrm>
          <a:prstGeom prst="rect">
            <a:avLst/>
          </a:prstGeom>
          <a:solidFill>
            <a:srgbClr val="08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560000" y="18720000"/>
            <a:ext cx="21600" cy="1980000"/>
          </a:xfrm>
          <a:prstGeom prst="rect">
            <a:avLst/>
          </a:prstGeom>
          <a:solidFill>
            <a:srgbClr val="40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4000" y="19008000"/>
            <a:ext cx="3600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A623"/>
                </a:solidFill>
                <a:latin typeface="Calibri"/>
              </a:rPr>
              <a:t>WORLD'S FIRST CRISPR MEDICINE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4000" y="19332000"/>
            <a:ext cx="1008000" cy="432000"/>
          </a:xfrm>
          <a:prstGeom prst="rect">
            <a:avLst/>
          </a:prstGeom>
          <a:solidFill>
            <a:srgbClr val="0D2248"/>
          </a:solidFill>
          <a:ln w="19050">
            <a:solidFill>
              <a:srgbClr val="4A7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4000" y="19404000"/>
            <a:ext cx="100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FF4FF"/>
                </a:solidFill>
                <a:latin typeface="Calibri"/>
              </a:rPr>
              <a:t>FDA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656000" y="19332000"/>
            <a:ext cx="1008000" cy="432000"/>
          </a:xfrm>
          <a:prstGeom prst="rect">
            <a:avLst/>
          </a:prstGeom>
          <a:solidFill>
            <a:srgbClr val="0D2A1A"/>
          </a:solidFill>
          <a:ln w="19050">
            <a:solidFill>
              <a:srgbClr val="3A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56000" y="19404000"/>
            <a:ext cx="1008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EFF4FF"/>
                </a:solidFill>
                <a:latin typeface="Calibri"/>
              </a:rPr>
              <a:t>EMA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880000" y="19332000"/>
            <a:ext cx="21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F5A623"/>
                </a:solidFill>
                <a:latin typeface="Calibri"/>
              </a:rPr>
              <a:t>Approved
December 8, 2023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4000" y="19872000"/>
            <a:ext cx="6696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8892AA"/>
                </a:solidFill>
                <a:latin typeface="Calibri"/>
              </a:rPr>
              <a:t>Casgevy™  (exagamglogene autotemcel)  ·  Vertex Pharmaceuticals + CRISPR Therapeutics  ·  First CRISPR approval in human history  ·  Indication: TDT in patients ≥12 years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4000" y="20376000"/>
            <a:ext cx="6552000" cy="72000"/>
          </a:xfrm>
          <a:prstGeom prst="rect">
            <a:avLst/>
          </a:prstGeom>
          <a:solidFill>
            <a:srgbClr val="889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96000" y="20304000"/>
            <a:ext cx="216000" cy="21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2000" y="20556000"/>
            <a:ext cx="86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 i="0">
                <a:solidFill>
                  <a:srgbClr val="F5A623"/>
                </a:solidFill>
                <a:latin typeface="Calibri"/>
              </a:rPr>
              <a:t>2012
Discovery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72000" y="20304000"/>
            <a:ext cx="216000" cy="216000"/>
          </a:xfrm>
          <a:prstGeom prst="rect">
            <a:avLst/>
          </a:prstGeom>
          <a:solidFill>
            <a:srgbClr val="889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48000" y="20556000"/>
            <a:ext cx="86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 i="0">
                <a:solidFill>
                  <a:srgbClr val="8892AA"/>
                </a:solidFill>
                <a:latin typeface="Calibri"/>
              </a:rPr>
              <a:t>2020
Phase 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48000" y="20304000"/>
            <a:ext cx="216000" cy="216000"/>
          </a:xfrm>
          <a:prstGeom prst="rect">
            <a:avLst/>
          </a:prstGeom>
          <a:solidFill>
            <a:srgbClr val="00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24000" y="20556000"/>
            <a:ext cx="86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1" i="0">
                <a:solidFill>
                  <a:srgbClr val="00D4A8"/>
                </a:solidFill>
                <a:latin typeface="Calibri"/>
              </a:rPr>
              <a:t>2023
APPROVED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20000" y="19008000"/>
            <a:ext cx="6840000" cy="25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D4A8"/>
                </a:solidFill>
                <a:latin typeface="Calibri"/>
              </a:rPr>
              <a:t>PATH FORWARD FOR BANGLADESH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20000" y="19332000"/>
            <a:ext cx="6840000" cy="1296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EFF4FF"/>
                </a:solidFill>
                <a:latin typeface="Calibri"/>
              </a:rPr>
              <a:t>▶  Carrier screening: identify at-risk couples before pregnancy (~USD 15 per PCR test)
▶  Prenatal diagnosis via CVS / amniocentesis with HBB genotyping
▶  Genetic counseling at district hospital level — policy commitment required
▶  Future: biosimilar gene therapies + regional manufacturing hubs in South Asia
▶  Advocate for government-funded clinical programs for patients already born with TDT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920000" y="20376000"/>
            <a:ext cx="6840000" cy="252000"/>
          </a:xfrm>
          <a:prstGeom prst="rect">
            <a:avLst/>
          </a:prstGeom>
          <a:solidFill>
            <a:srgbClr val="041812"/>
          </a:solidFill>
          <a:ln w="15240">
            <a:solidFill>
              <a:srgbClr val="00D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28000" y="20412000"/>
            <a:ext cx="6624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D4A8"/>
                </a:solidFill>
                <a:latin typeface="Calibri"/>
              </a:rPr>
              <a:t>The science is ready. Healthcare systems must catch up. Know your genes.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0" y="20700000"/>
            <a:ext cx="15120000" cy="684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0" y="20700000"/>
            <a:ext cx="15120000" cy="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4000" y="20844000"/>
            <a:ext cx="1152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892AA"/>
                </a:solidFill>
                <a:latin typeface="Calibri"/>
              </a:rPr>
              <a:t>References:  1. Locatelli F et al. NEJM 2024;390:1663–1676  ·  2. Frangoul H et al. NEJM 2021;384:252–260  ·  3. FDA. Casgevy Approval. FDA.gov, Dec 8 2023  ·  4. Taher AT et al. Nat Rev Dis Primers 2021;7:24  ·  5. Doudna JA &amp; Charpentier E. Science 2012;337:816–821  ·  6. Sankaran VG et al. Science 2008;322:1839–1842  ·  7. Uda M et al. PNAS 2008;105:1620–1625  ·  8. Weatherall DJ. Lancet 2010;391:155–167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2060000" y="20844000"/>
            <a:ext cx="1260000" cy="3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2060000" y="20880000"/>
            <a:ext cx="12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BUSB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3392000" y="20844000"/>
            <a:ext cx="1296000" cy="504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 i="0">
                <a:solidFill>
                  <a:srgbClr val="8892AA"/>
                </a:solidFill>
                <a:latin typeface="Calibri"/>
              </a:rPr>
              <a:t>World DNA Day 2026
Genetic Disorder &amp; Medication
BRAC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